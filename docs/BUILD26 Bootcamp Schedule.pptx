
<file path=[Content_Types].xml><?xml version="1.0" encoding="utf-8"?>
<ns0:Types xmlns:ns0="http://schemas.openxmlformats.org/package/2006/content-types">
  <ns0:Default Extension="bin" ContentType="application/vnd.openxmlformats-officedocument.presentationml.printerSettings"/>
  <ns0:Default Extension="jpeg" ContentType="image/jpeg"/>
  <ns0:Default Extension="png" ContentType="image/png"/>
  <ns0:Default Extension="rels" ContentType="application/vnd.openxmlformats-package.relationships+xml"/>
  <ns0:Default Extension="xml" ContentType="application/xml"/>
  <ns0:Override PartName="/docProps/app.xml" ContentType="application/vnd.openxmlformats-officedocument.extended-properties+xml"/>
  <ns0:Override PartName="/docProps/core.xml" ContentType="application/vnd.openxmlformats-package.core-properties+xml"/>
  <ns0:Override PartName="/ppt/presProps.xml" ContentType="application/vnd.openxmlformats-officedocument.presentationml.presProps+xml"/>
  <ns0:Override PartName="/ppt/presentation.xml" ContentType="application/vnd.openxmlformats-officedocument.presentationml.presentation.main+xml"/>
  <ns0:Override PartName="/ppt/slideLayouts/slideLayout1.xml" ContentType="application/vnd.openxmlformats-officedocument.presentationml.slideLayout+xml"/>
  <ns0:Override PartName="/ppt/slideLayouts/slideLayout10.xml" ContentType="application/vnd.openxmlformats-officedocument.presentationml.slideLayout+xml"/>
  <ns0:Override PartName="/ppt/slideLayouts/slideLayout11.xml" ContentType="application/vnd.openxmlformats-officedocument.presentationml.slideLayout+xml"/>
  <ns0:Override PartName="/ppt/slideLayouts/slideLayout2.xml" ContentType="application/vnd.openxmlformats-officedocument.presentationml.slideLayout+xml"/>
  <ns0:Override PartName="/ppt/slideLayouts/slideLayout3.xml" ContentType="application/vnd.openxmlformats-officedocument.presentationml.slideLayout+xml"/>
  <ns0:Override PartName="/ppt/slideLayouts/slideLayout4.xml" ContentType="application/vnd.openxmlformats-officedocument.presentationml.slideLayout+xml"/>
  <ns0:Override PartName="/ppt/slideLayouts/slideLayout5.xml" ContentType="application/vnd.openxmlformats-officedocument.presentationml.slideLayout+xml"/>
  <ns0:Override PartName="/ppt/slideLayouts/slideLayout6.xml" ContentType="application/vnd.openxmlformats-officedocument.presentationml.slideLayout+xml"/>
  <ns0:Override PartName="/ppt/slideLayouts/slideLayout7.xml" ContentType="application/vnd.openxmlformats-officedocument.presentationml.slideLayout+xml"/>
  <ns0:Override PartName="/ppt/slideLayouts/slideLayout8.xml" ContentType="application/vnd.openxmlformats-officedocument.presentationml.slideLayout+xml"/>
  <ns0:Override PartName="/ppt/slideLayouts/slideLayout9.xml" ContentType="application/vnd.openxmlformats-officedocument.presentationml.slideLayout+xml"/>
  <ns0:Override PartName="/ppt/slideMasters/slideMaster1.xml" ContentType="application/vnd.openxmlformats-officedocument.presentationml.slideMaster+xml"/>
  <ns0:Override PartName="/ppt/slides/slide1.xml" ContentType="application/vnd.openxmlformats-officedocument.presentationml.slide+xml"/>
  <ns0:Override PartName="/ppt/slides/slide2.xml" ContentType="application/vnd.openxmlformats-officedocument.presentationml.slide+xml"/>
  <ns0:Override PartName="/ppt/slides/slide3.xml" ContentType="application/vnd.openxmlformats-officedocument.presentationml.slide+xml"/>
  <ns0:Override PartName="/ppt/slides/slide4.xml" ContentType="application/vnd.openxmlformats-officedocument.presentationml.slide+xml"/>
  <ns0:Override PartName="/ppt/tableStyles.xml" ContentType="application/vnd.openxmlformats-officedocument.presentationml.tableStyles+xml"/>
  <ns0:Override PartName="/ppt/theme/theme1.xml" ContentType="application/vnd.openxmlformats-officedocument.theme+xml"/>
  <ns0:Override PartName="/ppt/viewProps.xml" ContentType="application/vnd.openxmlformats-officedocument.presentationml.viewProps+xml"/>
  <ns0:Default Extension="fntdata" ContentType="application/x-fontdata"/>
</ns0: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ns0:presentation xmlns:ns0="http://schemas.openxmlformats.org/presentationml/2006/main" xmlns:ns1="http://schemas.openxmlformats.org/officeDocument/2006/relationships" xmlns:ns2="http://schemas.openxmlformats.org/drawingml/2006/main" saveSubsetFonts="1" autoCompressPictures="0" embedTrueTypeFonts="1">
  <ns0:sldMasterIdLst>
    <ns0:sldMasterId id="2147483648" ns1:id="rId1"/>
  </ns0:sldMasterIdLst>
  <ns0:sldIdLst>
    <ns0:sldId id="256" ns1:id="rId7"/>
    <ns0:sldId id="257" ns1:id="rId8"/>
    <ns0:sldId id="258" ns1:id="rId9"/>
    <ns0:sldId id="259" ns1:id="rId10"/>
  </ns0:sldIdLst>
  <ns0:sldSz cx="12192000" cy="6858000" type="screen4x3"/>
  <ns0:notesSz cx="6858000" cy="9144000"/>
  <ns0:embeddedFontLst>
    <ns0:embeddedFont>
      <ns0:font typeface="Plus Jakarta Sans"/>
      <ns0:bold ns1:id="rIdFont11"/>
      <ns0:regular ns1:id="rIdFont12"/>
    </ns0:embeddedFont>
    <ns0:embeddedFont>
      <ns0:font typeface="Space Grotesk"/>
      <ns0:bold ns1:id="rIdFont13"/>
    </ns0:embeddedFont>
  </ns0:embeddedFontLst>
  <ns0:defaultTextStyle>
    <ns2:defPPr>
      <ns2:defRPr lang="en-US"/>
    </ns2:defPPr>
    <ns2:lvl1pPr marL="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1pPr>
    <ns2:lvl2pPr marL="4572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2pPr>
    <ns2:lvl3pPr marL="9144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3pPr>
    <ns2:lvl4pPr marL="13716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4pPr>
    <ns2:lvl5pPr marL="18288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5pPr>
    <ns2:lvl6pPr marL="22860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6pPr>
    <ns2:lvl7pPr marL="27432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7pPr>
    <ns2:lvl8pPr marL="32004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8pPr>
    <ns2:lvl9pPr marL="36576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9pPr>
  </ns0:defaultTextStyle>
</ns0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?>
<ns0:Relationships xmlns:ns0="http://schemas.openxmlformats.org/package/2006/relationships"><ns0:Relationship Id="rId1" Type="http://schemas.openxmlformats.org/officeDocument/2006/relationships/slideMaster" Target="slideMasters/slideMaster1.xml" /><ns0:Relationship Id="rId2" Type="http://schemas.openxmlformats.org/officeDocument/2006/relationships/printerSettings" Target="printerSettings/printerSettings1.bin" /><ns0:Relationship Id="rId3" Type="http://schemas.openxmlformats.org/officeDocument/2006/relationships/presProps" Target="presProps.xml" /><ns0:Relationship Id="rId4" Type="http://schemas.openxmlformats.org/officeDocument/2006/relationships/viewProps" Target="viewProps.xml" /><ns0:Relationship Id="rId5" Type="http://schemas.openxmlformats.org/officeDocument/2006/relationships/theme" Target="theme/theme1.xml" /><ns0:Relationship Id="rId6" Type="http://schemas.openxmlformats.org/officeDocument/2006/relationships/tableStyles" Target="tableStyles.xml" /><ns0:Relationship Id="rId7" Type="http://schemas.openxmlformats.org/officeDocument/2006/relationships/slide" Target="slides/slide1.xml" /><ns0:Relationship Id="rId8" Type="http://schemas.openxmlformats.org/officeDocument/2006/relationships/slide" Target="slides/slide2.xml" /><ns0:Relationship Id="rId9" Type="http://schemas.openxmlformats.org/officeDocument/2006/relationships/slide" Target="slides/slide3.xml" /><ns0:Relationship Id="rId10" Type="http://schemas.openxmlformats.org/officeDocument/2006/relationships/slide" Target="slides/slide4.xml" /><ns0:Relationship Id="rIdFont11" Type="http://schemas.openxmlformats.org/officeDocument/2006/relationships/font" Target="fonts/229b95ba-db8e-49a8-820f-f34cf653cb5a.fntdata" /><ns0:Relationship Id="rIdFont12" Type="http://schemas.openxmlformats.org/officeDocument/2006/relationships/font" Target="fonts/fcb1dfb2-42a2-4913-ab8e-a5a4a220808c.fntdata" /><ns0:Relationship Id="rIdFont13" Type="http://schemas.openxmlformats.org/officeDocument/2006/relationships/font" Target="fonts/8921fcf9-81cd-41c3-81eb-254f35b87406.fntdata" /></ns0: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5.png"/><Relationship Id="rId4" Type="http://schemas.openxmlformats.org/officeDocument/2006/relationships/image" Target="../media/image6.png"/><Relationship Id="rId5" Type="http://schemas.openxmlformats.org/officeDocument/2006/relationships/image" Target="../media/image7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image" Target="../media/image9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33400" y="5905500"/>
            <a:ext cx="11125200" cy="533400"/>
          </a:xfrm>
          <a:prstGeom prst="roundRect">
            <a:avLst>
              <a:gd name="adj" fmla="val 17857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0562332" y="6048375"/>
            <a:ext cx="895350" cy="247650"/>
          </a:xfrm>
          <a:prstGeom prst="roundRect">
            <a:avLst>
              <a:gd name="adj" fmla="val 23076"/>
            </a:avLst>
          </a:prstGeom>
          <a:solidFill>
            <a:srgbClr val="E0F2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33400" y="2195512"/>
            <a:ext cx="2681287" cy="1281112"/>
          </a:xfrm>
          <a:prstGeom prst="roundRect">
            <a:avLst>
              <a:gd name="adj" fmla="val 7434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3348037" y="2195512"/>
            <a:ext cx="2681287" cy="1281112"/>
          </a:xfrm>
          <a:prstGeom prst="roundRect">
            <a:avLst>
              <a:gd name="adj" fmla="val 7434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162675" y="2195512"/>
            <a:ext cx="2681287" cy="1281112"/>
          </a:xfrm>
          <a:prstGeom prst="roundRect">
            <a:avLst>
              <a:gd name="adj" fmla="val 7434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8977312" y="2195512"/>
            <a:ext cx="2681287" cy="1281112"/>
          </a:xfrm>
          <a:prstGeom prst="roundRect">
            <a:avLst>
              <a:gd name="adj" fmla="val 7434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33400" y="3609975"/>
            <a:ext cx="2681287" cy="1281112"/>
          </a:xfrm>
          <a:prstGeom prst="roundRect">
            <a:avLst>
              <a:gd name="adj" fmla="val 7434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3348037" y="3609975"/>
            <a:ext cx="2681287" cy="1281112"/>
          </a:xfrm>
          <a:prstGeom prst="roundRect">
            <a:avLst>
              <a:gd name="adj" fmla="val 7434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162675" y="3609975"/>
            <a:ext cx="2681287" cy="1281112"/>
          </a:xfrm>
          <a:prstGeom prst="roundRect">
            <a:avLst>
              <a:gd name="adj" fmla="val 7434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8977312" y="3609975"/>
            <a:ext cx="2681287" cy="1281112"/>
          </a:xfrm>
          <a:prstGeom prst="roundRect">
            <a:avLst>
              <a:gd name="adj" fmla="val 7434"/>
            </a:avLst>
          </a:prstGeom>
          <a:solidFill>
            <a:srgbClr val="0F172A"/>
          </a:solidFill>
          <a:ln w="9525">
            <a:solidFill>
              <a:srgbClr val="1E29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37580" y="6115050"/>
            <a:ext cx="104775" cy="114300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7692" y="6115050"/>
            <a:ext cx="104775" cy="114300"/>
          </a:xfrm>
          <a:prstGeom prst="rect">
            <a:avLst/>
          </a:prstGeom>
        </p:spPr>
      </p:pic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30179" y="6115050"/>
            <a:ext cx="104775" cy="114300"/>
          </a:xfrm>
          <a:prstGeom prst="rect">
            <a:avLst/>
          </a:prstGeom>
        </p:spPr>
      </p:pic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05041" y="6115050"/>
            <a:ext cx="104775" cy="114300"/>
          </a:xfrm>
          <a:prstGeom prst="rect">
            <a:avLst/>
          </a:prstGeom>
        </p:spPr>
      </p:pic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27527" y="6115050"/>
            <a:ext cx="104775" cy="114300"/>
          </a:xfrm>
          <a:prstGeom prst="rect">
            <a:avLst/>
          </a:prstGeom>
        </p:spPr>
      </p:pic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78614" y="6115050"/>
            <a:ext cx="104775" cy="114300"/>
          </a:xfrm>
          <a:prstGeom prst="rect">
            <a:avLst/>
          </a:prstGeom>
        </p:spPr>
      </p:pic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48726" y="6115050"/>
            <a:ext cx="104775" cy="114300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8286750" y="828675"/>
            <a:ext cx="3905250" cy="1809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125" i="0" u="none">
                <a:solidFill>
                  <a:srgbClr val="64748B"/>
                </a:solidFill>
                <a:latin typeface="Plus Jakarta Sans"/>
              </a:rPr>
              <a:t>8 Sequential Phases • Problem to Working Demo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3425" y="6086475"/>
            <a:ext cx="981075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4F46E5"/>
                </a:solidFill>
                <a:latin typeface="Plus Jakarta Sans"/>
              </a:rPr>
              <a:t>DISCOVER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351186" y="6086475"/>
            <a:ext cx="733425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4F46E5"/>
                </a:solidFill>
                <a:latin typeface="Plus Jakarta Sans"/>
              </a:rPr>
              <a:t>IDEATE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721298" y="6086475"/>
            <a:ext cx="68580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4F46E5"/>
                </a:solidFill>
                <a:latin typeface="Plus Jakarta Sans"/>
              </a:rPr>
              <a:t>FORM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43785" y="6086475"/>
            <a:ext cx="638175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4F46E5"/>
                </a:solidFill>
                <a:latin typeface="Plus Jakarta Sans"/>
              </a:rPr>
              <a:t>PLAN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18646" y="6086475"/>
            <a:ext cx="68580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0D9488"/>
                </a:solidFill>
                <a:latin typeface="Plus Jakarta Sans"/>
              </a:rPr>
              <a:t>BUILD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641133" y="6086475"/>
            <a:ext cx="91440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0D9488"/>
                </a:solidFill>
                <a:latin typeface="Plus Jakarta Sans"/>
              </a:rPr>
              <a:t>VALIDATE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92220" y="6086475"/>
            <a:ext cx="733425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EA580C"/>
                </a:solidFill>
                <a:latin typeface="Plus Jakarta Sans"/>
              </a:rPr>
              <a:t>REFINE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657582" y="6086475"/>
            <a:ext cx="800100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0F172A"/>
                </a:solidFill>
                <a:latin typeface="Plus Jakarta Sans"/>
              </a:rPr>
              <a:t>DEMO DAY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33400" y="419100"/>
            <a:ext cx="5369718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4F46E5"/>
                </a:solidFill>
                <a:latin typeface="Plus Jakarta Sans"/>
              </a:rPr>
              <a:t>BOOTCAMP ARCHITECTURE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33400" y="628650"/>
            <a:ext cx="5638204" cy="381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400" i="0" u="none">
                <a:solidFill>
                  <a:srgbClr val="0F172A"/>
                </a:solidFill>
                <a:latin typeface="Space Grotesk"/>
              </a:rPr>
              <a:t>BUILD26 — The Build Journey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14375" y="2376487"/>
            <a:ext cx="2899171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4F46E5"/>
                </a:solidFill>
                <a:latin typeface="Plus Jakarta Sans"/>
              </a:rPr>
              <a:t>PHASE 01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14375" y="2605087"/>
            <a:ext cx="3044130" cy="2476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Space Grotesk"/>
              </a:rPr>
              <a:t>DISCOVER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14375" y="2909887"/>
            <a:ext cx="2414587" cy="38576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18"/>
              </a:lnSpc>
            </a:pPr>
            <a:r>
              <a:rPr b="0" sz="1125" i="0" u="none">
                <a:solidFill>
                  <a:srgbClr val="475569"/>
                </a:solidFill>
                <a:latin typeface="Plus Jakarta Sans"/>
              </a:rPr>
              <a:t>Problem statements and problem understanding.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529012" y="2376487"/>
            <a:ext cx="2899171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4F46E5"/>
                </a:solidFill>
                <a:latin typeface="Plus Jakarta Sans"/>
              </a:rPr>
              <a:t>PHASE 02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529012" y="2605087"/>
            <a:ext cx="3044130" cy="2476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Space Grotesk"/>
              </a:rPr>
              <a:t>IDEATE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529012" y="2909887"/>
            <a:ext cx="2414587" cy="38576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18"/>
              </a:lnSpc>
            </a:pPr>
            <a:r>
              <a:rPr b="0" sz="1125" i="0" u="none">
                <a:solidFill>
                  <a:srgbClr val="475569"/>
                </a:solidFill>
                <a:latin typeface="Plus Jakarta Sans"/>
              </a:rPr>
              <a:t>Solution exploration and pitch formulation.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343650" y="2376487"/>
            <a:ext cx="2899171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4F46E5"/>
                </a:solidFill>
                <a:latin typeface="Plus Jakarta Sans"/>
              </a:rPr>
              <a:t>PHASE 03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343650" y="2605087"/>
            <a:ext cx="3044130" cy="2476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Space Grotesk"/>
              </a:rPr>
              <a:t>FORM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343650" y="2909887"/>
            <a:ext cx="2414587" cy="38576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18"/>
              </a:lnSpc>
            </a:pPr>
            <a:r>
              <a:rPr b="0" sz="1125" i="0" u="none">
                <a:solidFill>
                  <a:srgbClr val="475569"/>
                </a:solidFill>
                <a:latin typeface="Plus Jakarta Sans"/>
              </a:rPr>
              <a:t>Team formation and role allocation.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158287" y="2376487"/>
            <a:ext cx="2899171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4F46E5"/>
                </a:solidFill>
                <a:latin typeface="Plus Jakarta Sans"/>
              </a:rPr>
              <a:t>PHASE 04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158287" y="2605087"/>
            <a:ext cx="3033712" cy="2476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Space Grotesk"/>
              </a:rPr>
              <a:t>PLAN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158287" y="2909887"/>
            <a:ext cx="2414587" cy="38576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18"/>
              </a:lnSpc>
            </a:pPr>
            <a:r>
              <a:rPr b="0" sz="1125" i="0" u="none">
                <a:solidFill>
                  <a:srgbClr val="475569"/>
                </a:solidFill>
                <a:latin typeface="Plus Jakarta Sans"/>
              </a:rPr>
              <a:t>Architecture definition and sprint planning.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14375" y="3790950"/>
            <a:ext cx="2899171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0D9488"/>
                </a:solidFill>
                <a:latin typeface="Plus Jakarta Sans"/>
              </a:rPr>
              <a:t>PHASE 05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14375" y="4019550"/>
            <a:ext cx="3044130" cy="2476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Space Grotesk"/>
              </a:rPr>
              <a:t>BUILD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14375" y="4324350"/>
            <a:ext cx="2414587" cy="38576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18"/>
              </a:lnSpc>
            </a:pPr>
            <a:r>
              <a:rPr b="0" sz="1125" i="0" u="none">
                <a:solidFill>
                  <a:srgbClr val="475569"/>
                </a:solidFill>
                <a:latin typeface="Plus Jakarta Sans"/>
              </a:rPr>
              <a:t>Prototype and working MVP development.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3529012" y="3790950"/>
            <a:ext cx="2899171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0D9488"/>
                </a:solidFill>
                <a:latin typeface="Plus Jakarta Sans"/>
              </a:rPr>
              <a:t>PHASE 06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3529012" y="4019550"/>
            <a:ext cx="3044130" cy="2476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Space Grotesk"/>
              </a:rPr>
              <a:t>VALIDATE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3529012" y="4324350"/>
            <a:ext cx="2414587" cy="38576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18"/>
              </a:lnSpc>
            </a:pPr>
            <a:r>
              <a:rPr b="0" sz="1125" i="0" u="none">
                <a:solidFill>
                  <a:srgbClr val="475569"/>
                </a:solidFill>
                <a:latin typeface="Plus Jakarta Sans"/>
              </a:rPr>
              <a:t>Usability testing and mentor reviews.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343650" y="3790950"/>
            <a:ext cx="2899171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EA580C"/>
                </a:solidFill>
                <a:latin typeface="Plus Jakarta Sans"/>
              </a:rPr>
              <a:t>PHASE 07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343650" y="4019550"/>
            <a:ext cx="3044130" cy="2476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Space Grotesk"/>
              </a:rPr>
              <a:t>REFINE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343650" y="4324350"/>
            <a:ext cx="2414587" cy="38576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18"/>
              </a:lnSpc>
            </a:pPr>
            <a:r>
              <a:rPr b="0" sz="1125" i="0" u="none">
                <a:solidFill>
                  <a:srgbClr val="475569"/>
                </a:solidFill>
                <a:latin typeface="Plus Jakarta Sans"/>
              </a:rPr>
              <a:t>Code hardening and demo preparation.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9158287" y="3790950"/>
            <a:ext cx="2899171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38BDF8"/>
                </a:solidFill>
                <a:latin typeface="Plus Jakarta Sans"/>
              </a:rPr>
              <a:t>PHASE 08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9158287" y="4019550"/>
            <a:ext cx="3033712" cy="2476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FFFFFF"/>
                </a:solidFill>
                <a:latin typeface="Space Grotesk"/>
              </a:rPr>
              <a:t>DEMO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9158287" y="4324350"/>
            <a:ext cx="2414587" cy="38576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18"/>
              </a:lnSpc>
            </a:pPr>
            <a:r>
              <a:rPr b="0" sz="1125" i="0" u="none">
                <a:solidFill>
                  <a:srgbClr val="CBD5E1"/>
                </a:solidFill>
                <a:latin typeface="Plus Jakarta Sans"/>
              </a:rPr>
              <a:t>Final product showcase and jury review.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3400" y="6353175"/>
            <a:ext cx="114300" cy="133350"/>
          </a:xfrm>
          <a:prstGeom prst="rect">
            <a:avLst/>
          </a:prstGeom>
        </p:spPr>
      </p:pic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533400" y="2143125"/>
          <a:ext cx="11125200" cy="3095625"/>
        </p:xfrm>
        <a:graphic>
          <a:graphicData uri="http://schemas.openxmlformats.org/drawingml/2006/table">
            <a:tbl>
              <a:tblPr firstRow="0" bandRow="0">
                <a:lnL>
                  <a:noFill/>
                </a:lnL>
                <a:lnR>
                  <a:noFill/>
                </a:lnR>
                <a:lnT>
                  <a:noFill/>
                </a:lnT>
                <a:lnB>
                  <a:noFill/>
                </a:lnB>
                <a:lnV>
                  <a:noFill/>
                </a:lnV>
                <a:lnH>
                  <a:noFill/>
                </a:lnH>
              </a:tblPr>
              <a:tblGrid>
                <a:gridCol w="1047750"/>
                <a:gridCol w="1333500"/>
                <a:gridCol w="6648450"/>
                <a:gridCol w="2095500"/>
              </a:tblGrid>
              <a:tr h="309562">
                <a:tc>
                  <a:txBody>
                    <a:bodyPr/>
                    <a:lstStyle/>
                    <a:p>
                      <a:pPr algn="l"/>
                      <a:r>
                        <a:rPr b="1" sz="1050" i="0" u="none">
                          <a:solidFill>
                            <a:srgbClr val="475569"/>
                          </a:solidFill>
                          <a:latin typeface="Plus Jakarta Sans"/>
                        </a:rPr>
                        <a:t>DAY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050" i="0" u="none">
                          <a:solidFill>
                            <a:srgbClr val="475569"/>
                          </a:solidFill>
                          <a:latin typeface="Plus Jakarta Sans"/>
                        </a:rPr>
                        <a:t>FOCUS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050" i="0" u="none">
                          <a:solidFill>
                            <a:srgbClr val="475569"/>
                          </a:solidFill>
                          <a:latin typeface="Plus Jakarta Sans"/>
                        </a:rPr>
                        <a:t>KEY SPRINT ACTIVITIES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050" i="0" u="none">
                          <a:solidFill>
                            <a:srgbClr val="475569"/>
                          </a:solidFill>
                          <a:latin typeface="Plus Jakarta Sans"/>
                        </a:rPr>
                        <a:t>REQUIRED OUTPUT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  <a:tr h="309562">
                <a:tc>
                  <a:txBody>
                    <a:bodyPr/>
                    <a:lstStyle/>
                    <a:p>
                      <a:pPr algn="l"/>
                      <a:r>
                        <a:rPr b="1" sz="1125" i="0" u="none">
                          <a:solidFill>
                            <a:srgbClr val="0F172A"/>
                          </a:solidFill>
                          <a:latin typeface="Plus Jakarta Sans"/>
                        </a:rPr>
                        <a:t>DAY 01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125" i="0" u="none">
                          <a:solidFill>
                            <a:srgbClr val="4F46E5"/>
                          </a:solidFill>
                          <a:latin typeface="Plus Jakarta Sans"/>
                        </a:rPr>
                        <a:t>DISCOVER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050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Kickoff, 8 problem statements, deep root analysis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050" i="0" u="none">
                          <a:solidFill>
                            <a:srgbClr val="0F172A"/>
                          </a:solidFill>
                          <a:latin typeface="Plus Jakarta Sans"/>
                        </a:rPr>
                        <a:t>Problem Selection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  <a:tr h="309562">
                <a:tc>
                  <a:txBody>
                    <a:bodyPr/>
                    <a:lstStyle/>
                    <a:p>
                      <a:pPr algn="l"/>
                      <a:r>
                        <a:rPr b="1" sz="1125" i="0" u="none">
                          <a:solidFill>
                            <a:srgbClr val="0F172A"/>
                          </a:solidFill>
                          <a:latin typeface="Plus Jakarta Sans"/>
                        </a:rPr>
                        <a:t>DAY 02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125" i="0" u="none">
                          <a:solidFill>
                            <a:srgbClr val="4F46E5"/>
                          </a:solidFill>
                          <a:latin typeface="Plus Jakarta Sans"/>
                        </a:rPr>
                        <a:t>IDEATE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050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User interviews, solution ideation, peer pitch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050" i="0" u="none">
                          <a:solidFill>
                            <a:srgbClr val="0F172A"/>
                          </a:solidFill>
                          <a:latin typeface="Plus Jakarta Sans"/>
                        </a:rPr>
                        <a:t>Solution Concept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AFAFA"/>
                    </a:solidFill>
                  </a:tcPr>
                </a:tc>
              </a:tr>
              <a:tr h="309562">
                <a:tc>
                  <a:txBody>
                    <a:bodyPr/>
                    <a:lstStyle/>
                    <a:p>
                      <a:pPr algn="l"/>
                      <a:r>
                        <a:rPr b="1" sz="1125" i="0" u="none">
                          <a:solidFill>
                            <a:srgbClr val="0F172A"/>
                          </a:solidFill>
                          <a:latin typeface="Plus Jakarta Sans"/>
                        </a:rPr>
                        <a:t>DAY 03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125" i="0" u="none">
                          <a:solidFill>
                            <a:srgbClr val="4F46E5"/>
                          </a:solidFill>
                          <a:latin typeface="Plus Jakarta Sans"/>
                        </a:rPr>
                        <a:t>FORM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050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Team alignment, skill mapping, accountability roles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050" i="0" u="none">
                          <a:solidFill>
                            <a:srgbClr val="0F172A"/>
                          </a:solidFill>
                          <a:latin typeface="Plus Jakarta Sans"/>
                        </a:rPr>
                        <a:t>3–4 Member Team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  <a:tr h="309562">
                <a:tc>
                  <a:txBody>
                    <a:bodyPr/>
                    <a:lstStyle/>
                    <a:p>
                      <a:pPr algn="l"/>
                      <a:r>
                        <a:rPr b="1" sz="1125" i="0" u="none">
                          <a:solidFill>
                            <a:srgbClr val="0F172A"/>
                          </a:solidFill>
                          <a:latin typeface="Plus Jakarta Sans"/>
                        </a:rPr>
                        <a:t>DAY 04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125" i="0" u="none">
                          <a:solidFill>
                            <a:srgbClr val="4F46E5"/>
                          </a:solidFill>
                          <a:latin typeface="Plus Jakarta Sans"/>
                        </a:rPr>
                        <a:t>PLAN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050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User journey mapping, system architecture, sprints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050" i="0" u="none">
                          <a:solidFill>
                            <a:srgbClr val="0F172A"/>
                          </a:solidFill>
                          <a:latin typeface="Plus Jakarta Sans"/>
                        </a:rPr>
                        <a:t>Product Blueprint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AFAFA"/>
                    </a:solidFill>
                  </a:tcPr>
                </a:tc>
              </a:tr>
              <a:tr h="309562">
                <a:tc>
                  <a:txBody>
                    <a:bodyPr/>
                    <a:lstStyle/>
                    <a:p>
                      <a:pPr algn="l"/>
                      <a:r>
                        <a:rPr b="1" sz="1125" i="0" u="none">
                          <a:solidFill>
                            <a:srgbClr val="0F172A"/>
                          </a:solidFill>
                          <a:latin typeface="Plus Jakarta Sans"/>
                        </a:rPr>
                        <a:t>DAY 05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125" i="0" u="none">
                          <a:solidFill>
                            <a:srgbClr val="0D9488"/>
                          </a:solidFill>
                          <a:latin typeface="Plus Jakarta Sans"/>
                        </a:rPr>
                        <a:t>BUILD I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050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Core prototype execution, initial mentor review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050" i="0" u="none">
                          <a:solidFill>
                            <a:srgbClr val="0F172A"/>
                          </a:solidFill>
                          <a:latin typeface="Plus Jakarta Sans"/>
                        </a:rPr>
                        <a:t>Working Prototype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  <a:tr h="309562">
                <a:tc>
                  <a:txBody>
                    <a:bodyPr/>
                    <a:lstStyle/>
                    <a:p>
                      <a:pPr algn="l"/>
                      <a:r>
                        <a:rPr b="1" sz="1125" i="0" u="none">
                          <a:solidFill>
                            <a:srgbClr val="0F172A"/>
                          </a:solidFill>
                          <a:latin typeface="Plus Jakarta Sans"/>
                        </a:rPr>
                        <a:t>DAY 06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125" i="0" u="none">
                          <a:solidFill>
                            <a:srgbClr val="0D9488"/>
                          </a:solidFill>
                          <a:latin typeface="Plus Jakarta Sans"/>
                        </a:rPr>
                        <a:t>BUILD II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050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End-to-end MVP integration, functionality testing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050" i="0" u="none">
                          <a:solidFill>
                            <a:srgbClr val="0F172A"/>
                          </a:solidFill>
                          <a:latin typeface="Plus Jakarta Sans"/>
                        </a:rPr>
                        <a:t>Deployable MVP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AFAFA"/>
                    </a:solidFill>
                  </a:tcPr>
                </a:tc>
              </a:tr>
              <a:tr h="309562">
                <a:tc>
                  <a:txBody>
                    <a:bodyPr/>
                    <a:lstStyle/>
                    <a:p>
                      <a:pPr algn="l"/>
                      <a:r>
                        <a:rPr b="1" sz="1125" i="0" u="none">
                          <a:solidFill>
                            <a:srgbClr val="0F172A"/>
                          </a:solidFill>
                          <a:latin typeface="Plus Jakarta Sans"/>
                        </a:rPr>
                        <a:t>DAY 07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125" i="0" u="none">
                          <a:solidFill>
                            <a:srgbClr val="EA580C"/>
                          </a:solidFill>
                          <a:latin typeface="Plus Jakarta Sans"/>
                        </a:rPr>
                        <a:t>VALIDATE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050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Real user trials, peer testing, mentor stress-test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050" i="0" u="none">
                          <a:solidFill>
                            <a:srgbClr val="0F172A"/>
                          </a:solidFill>
                          <a:latin typeface="Plus Jakarta Sans"/>
                        </a:rPr>
                        <a:t>Validated Solution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  <a:tr h="309562">
                <a:tc>
                  <a:txBody>
                    <a:bodyPr/>
                    <a:lstStyle/>
                    <a:p>
                      <a:pPr algn="l"/>
                      <a:r>
                        <a:rPr b="1" sz="1125" i="0" u="none">
                          <a:solidFill>
                            <a:srgbClr val="0F172A"/>
                          </a:solidFill>
                          <a:latin typeface="Plus Jakarta Sans"/>
                        </a:rPr>
                        <a:t>DAY 08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125" i="0" u="none">
                          <a:solidFill>
                            <a:srgbClr val="EA580C"/>
                          </a:solidFill>
                          <a:latin typeface="Plus Jakarta Sans"/>
                        </a:rPr>
                        <a:t>REFINE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050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UX polishing, slide deck completion, pitch rehearsal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050" i="0" u="none">
                          <a:solidFill>
                            <a:srgbClr val="0F172A"/>
                          </a:solidFill>
                          <a:latin typeface="Plus Jakarta Sans"/>
                        </a:rPr>
                        <a:t>Final Product + Pitch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AFAFA"/>
                    </a:solidFill>
                  </a:tcPr>
                </a:tc>
              </a:tr>
              <a:tr h="309567">
                <a:tc>
                  <a:txBody>
                    <a:bodyPr/>
                    <a:lstStyle/>
                    <a:p>
                      <a:pPr algn="l"/>
                      <a:r>
                        <a:rPr b="1" sz="1125" i="0" u="none">
                          <a:solidFill>
                            <a:srgbClr val="38BDF8"/>
                          </a:solidFill>
                          <a:latin typeface="Plus Jakarta Sans"/>
                        </a:rPr>
                        <a:t>DAY 09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125" i="0" u="none">
                          <a:solidFill>
                            <a:srgbClr val="FFFFFF"/>
                          </a:solidFill>
                          <a:latin typeface="Plus Jakarta Sans"/>
                        </a:rPr>
                        <a:t>DEMO DAY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050" i="0" u="none">
                          <a:solidFill>
                            <a:srgbClr val="E2E8F0"/>
                          </a:solidFill>
                          <a:latin typeface="Plus Jakarta Sans"/>
                        </a:rPr>
                        <a:t>Live demonstration, jury Q&amp;A, award evaluation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050" i="0" u="none">
                          <a:solidFill>
                            <a:srgbClr val="38BDF8"/>
                          </a:solidFill>
                          <a:latin typeface="Plus Jakarta Sans"/>
                        </a:rPr>
                        <a:t>Final Presentation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7696200" y="762000"/>
            <a:ext cx="4495800" cy="1809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125" i="0" u="none">
                <a:solidFill>
                  <a:srgbClr val="64748B"/>
                </a:solidFill>
                <a:latin typeface="Plus Jakarta Sans"/>
              </a:rPr>
              <a:t>Daily 4:30 PM — 6:30 PM • Discovery to Live Jury Defense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3400" y="6324600"/>
            <a:ext cx="5881687" cy="171450"/>
          </a:xfrm>
          <a:prstGeom prst="rect">
            <a:avLst/>
          </a:prstGeom>
          <a:noFill/>
        </p:spPr>
        <p:txBody>
          <a:bodyPr wrap="none" lIns="17145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64748B"/>
                </a:solidFill>
                <a:latin typeface="Plus Jakarta Sans"/>
              </a:rPr>
              <a:t>Every day mandates a tangible milestone deliverable before sprint close.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382125" y="6324600"/>
            <a:ext cx="2809875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0F172A"/>
                </a:solidFill>
                <a:latin typeface="Plus Jakarta Sans"/>
              </a:rPr>
              <a:t>Culmination: Day 09 Live Jury Demo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3400" y="361950"/>
            <a:ext cx="5667375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4F46E5"/>
                </a:solidFill>
                <a:latin typeface="Plus Jakarta Sans"/>
              </a:rPr>
              <a:t>EXECUTION TIMETABLE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33400" y="571500"/>
            <a:ext cx="5950743" cy="3714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250" i="0" u="none">
                <a:solidFill>
                  <a:srgbClr val="0F172A"/>
                </a:solidFill>
                <a:latin typeface="Space Grotesk"/>
              </a:rPr>
              <a:t>BUILD26 — Day-by-Day Schedule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33400" y="5953125"/>
            <a:ext cx="11125200" cy="485775"/>
          </a:xfrm>
          <a:prstGeom prst="roundRect">
            <a:avLst>
              <a:gd name="adj" fmla="val 19607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33400" y="1352550"/>
            <a:ext cx="3581400" cy="4410075"/>
          </a:xfrm>
          <a:prstGeom prst="roundRect">
            <a:avLst>
              <a:gd name="adj" fmla="val 3191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305300" y="1352550"/>
            <a:ext cx="3581400" cy="4410075"/>
          </a:xfrm>
          <a:prstGeom prst="roundRect">
            <a:avLst>
              <a:gd name="adj" fmla="val 3191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077200" y="1352550"/>
            <a:ext cx="3581400" cy="4410075"/>
          </a:xfrm>
          <a:prstGeom prst="roundRect">
            <a:avLst>
              <a:gd name="adj" fmla="val 3191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52475" y="4629150"/>
            <a:ext cx="3143250" cy="9144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24375" y="4800600"/>
            <a:ext cx="3143250" cy="74295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296275" y="4800600"/>
            <a:ext cx="3143250" cy="74295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52475" y="4629150"/>
            <a:ext cx="314325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24375" y="4800600"/>
            <a:ext cx="314325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296275" y="4800600"/>
            <a:ext cx="314325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2000" y="6115050"/>
            <a:ext cx="171450" cy="171450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2475" y="1595437"/>
            <a:ext cx="133350" cy="152400"/>
          </a:xfrm>
          <a:prstGeom prst="rect">
            <a:avLst/>
          </a:prstGeom>
        </p:spPr>
      </p:pic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24375" y="1595437"/>
            <a:ext cx="190500" cy="152400"/>
          </a:xfrm>
          <a:prstGeom prst="rect">
            <a:avLst/>
          </a:prstGeom>
        </p:spPr>
      </p:pic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96275" y="1595437"/>
            <a:ext cx="114300" cy="15240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8191500" y="828675"/>
            <a:ext cx="4000500" cy="1809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125" i="0" u="none">
                <a:solidFill>
                  <a:srgbClr val="64748B"/>
                </a:solidFill>
                <a:latin typeface="Plus Jakarta Sans"/>
              </a:rPr>
              <a:t>Daily 2-Hour Intensive Sprint (4:30 PM — 6:30 PM)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62000" y="6086475"/>
            <a:ext cx="4750593" cy="219075"/>
          </a:xfrm>
          <a:prstGeom prst="rect">
            <a:avLst/>
          </a:prstGeom>
          <a:noFill/>
        </p:spPr>
        <p:txBody>
          <a:bodyPr wrap="none" lIns="26670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FFFFFF"/>
                </a:solidFill>
                <a:latin typeface="Space Grotesk"/>
              </a:rPr>
              <a:t>Every day ends with evidence of progress.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096250" y="6110287"/>
            <a:ext cx="409575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94A3B8"/>
                </a:solidFill>
                <a:latin typeface="Plus Jakarta Sans"/>
              </a:rPr>
              <a:t>2-Hour High-Intensity Sprint • 100% Tangible Output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33400" y="419100"/>
            <a:ext cx="3845718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4F46E5"/>
                </a:solidFill>
                <a:latin typeface="Plus Jakarta Sans"/>
              </a:rPr>
              <a:t>DAILY CADENCE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33400" y="628650"/>
            <a:ext cx="4038004" cy="381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400" i="0" u="none">
                <a:solidFill>
                  <a:srgbClr val="0F172A"/>
                </a:solidFill>
                <a:latin typeface="Space Grotesk"/>
              </a:rPr>
              <a:t>Inside a BUILD26 Day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52475" y="4772025"/>
            <a:ext cx="3929062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0D9488"/>
                </a:solidFill>
                <a:latin typeface="Plus Jakarta Sans"/>
              </a:rPr>
              <a:t>16:45 — 17:00 (15 min)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52475" y="4972050"/>
            <a:ext cx="4125515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0F172A"/>
                </a:solidFill>
                <a:latin typeface="Plus Jakarta Sans"/>
              </a:rPr>
              <a:t>Mentor Checkpoint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52475" y="5200650"/>
            <a:ext cx="32385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475569"/>
                </a:solidFill>
                <a:latin typeface="Plus Jakarta Sans"/>
              </a:rPr>
              <a:t>Review assumptions, technical architecture &amp; scope.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24375" y="4943475"/>
            <a:ext cx="3929062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4F46E5"/>
                </a:solidFill>
                <a:latin typeface="Plus Jakarta Sans"/>
              </a:rPr>
              <a:t>17:40 — 18:00 (20 min)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24375" y="5143500"/>
            <a:ext cx="4125515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0F172A"/>
                </a:solidFill>
                <a:latin typeface="Plus Jakarta Sans"/>
              </a:rPr>
              <a:t>Testing &amp; Peer Review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24375" y="5372100"/>
            <a:ext cx="3929062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475569"/>
                </a:solidFill>
                <a:latin typeface="Plus Jakarta Sans"/>
              </a:rPr>
              <a:t>Cross-team usability testing, QA &amp; feedback.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96275" y="4943475"/>
            <a:ext cx="3895725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0F172A"/>
                </a:solidFill>
                <a:latin typeface="Plus Jakarta Sans"/>
              </a:rPr>
              <a:t>18:15 — 18:30 (15 min)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96275" y="5143500"/>
            <a:ext cx="3895725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0F172A"/>
                </a:solidFill>
                <a:latin typeface="Plus Jakarta Sans"/>
              </a:rPr>
              <a:t>Daily Demo &amp; Reflection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96275" y="5372100"/>
            <a:ext cx="3895725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475569"/>
                </a:solidFill>
                <a:latin typeface="Plus Jakarta Sans"/>
              </a:rPr>
              <a:t>Show what changed today before sprint close.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62025" y="1571625"/>
            <a:ext cx="1637704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0F172A"/>
                </a:solidFill>
                <a:latin typeface="Plus Jakarta Sans"/>
              </a:rPr>
              <a:t>SPRINT KICKOFF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52475" y="1905000"/>
            <a:ext cx="3929062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4F46E5"/>
                </a:solidFill>
                <a:latin typeface="Plus Jakarta Sans"/>
              </a:rPr>
              <a:t>16:30 — 16:45 (15 min)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52475" y="2105025"/>
            <a:ext cx="4125515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0F172A"/>
                </a:solidFill>
                <a:latin typeface="Plus Jakarta Sans"/>
              </a:rPr>
              <a:t>Stand-up &amp; Progress Check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52475" y="2333625"/>
            <a:ext cx="3929062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475569"/>
                </a:solidFill>
                <a:latin typeface="Plus Jakarta Sans"/>
              </a:rPr>
              <a:t>Sprint progress, target metrics, and blockers.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791075" y="1571625"/>
            <a:ext cx="1775221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0F172A"/>
                </a:solidFill>
                <a:latin typeface="Plus Jakarta Sans"/>
              </a:rPr>
              <a:t>EXECUTION CORE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524375" y="1905000"/>
            <a:ext cx="3929062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0D9488"/>
                </a:solidFill>
                <a:latin typeface="Plus Jakarta Sans"/>
              </a:rPr>
              <a:t>17:00 — 17:40 (40 min)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524375" y="2105025"/>
            <a:ext cx="4125515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0F172A"/>
                </a:solidFill>
                <a:latin typeface="Plus Jakarta Sans"/>
              </a:rPr>
              <a:t>Focused Build Sprint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524375" y="2333625"/>
            <a:ext cx="3929062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475569"/>
                </a:solidFill>
                <a:latin typeface="Plus Jakarta Sans"/>
              </a:rPr>
              <a:t>Deep work on core prototype, UI, and APIs.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486775" y="1571625"/>
            <a:ext cx="1900237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0F172A"/>
                </a:solidFill>
                <a:latin typeface="Plus Jakarta Sans"/>
              </a:rPr>
              <a:t>EVIDENCE &amp; CLOSE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296275" y="1905000"/>
            <a:ext cx="3895725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EA580C"/>
                </a:solidFill>
                <a:latin typeface="Plus Jakarta Sans"/>
              </a:rPr>
              <a:t>18:00 — 18:15 (15 min)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296275" y="2105025"/>
            <a:ext cx="3895725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0F172A"/>
                </a:solidFill>
                <a:latin typeface="Plus Jakarta Sans"/>
              </a:rPr>
              <a:t>Build Log Update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296275" y="2333625"/>
            <a:ext cx="3895725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475569"/>
                </a:solidFill>
                <a:latin typeface="Plus Jakarta Sans"/>
              </a:rPr>
              <a:t>Document decisions, code commits &amp; blockers.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33400" y="5981700"/>
            <a:ext cx="11125200" cy="495300"/>
          </a:xfrm>
          <a:prstGeom prst="roundRect">
            <a:avLst>
              <a:gd name="adj" fmla="val 1923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0667404" y="6105525"/>
            <a:ext cx="809625" cy="247650"/>
          </a:xfrm>
          <a:prstGeom prst="roundRect">
            <a:avLst>
              <a:gd name="adj" fmla="val 23076"/>
            </a:avLst>
          </a:prstGeom>
          <a:solidFill>
            <a:srgbClr val="E0F2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33400" y="2185987"/>
            <a:ext cx="2681287" cy="1295400"/>
          </a:xfrm>
          <a:prstGeom prst="roundRect">
            <a:avLst>
              <a:gd name="adj" fmla="val 7352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3348037" y="2185987"/>
            <a:ext cx="2681287" cy="1295400"/>
          </a:xfrm>
          <a:prstGeom prst="roundRect">
            <a:avLst>
              <a:gd name="adj" fmla="val 7352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162675" y="2185987"/>
            <a:ext cx="2681287" cy="1295400"/>
          </a:xfrm>
          <a:prstGeom prst="roundRect">
            <a:avLst>
              <a:gd name="adj" fmla="val 7352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8977312" y="2185987"/>
            <a:ext cx="2681287" cy="1295400"/>
          </a:xfrm>
          <a:prstGeom prst="roundRect">
            <a:avLst>
              <a:gd name="adj" fmla="val 7352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33400" y="3595687"/>
            <a:ext cx="2681287" cy="1295400"/>
          </a:xfrm>
          <a:prstGeom prst="roundRect">
            <a:avLst>
              <a:gd name="adj" fmla="val 7352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3348037" y="3595687"/>
            <a:ext cx="2681287" cy="1295400"/>
          </a:xfrm>
          <a:prstGeom prst="roundRect">
            <a:avLst>
              <a:gd name="adj" fmla="val 7352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162675" y="3595687"/>
            <a:ext cx="2681287" cy="1295400"/>
          </a:xfrm>
          <a:prstGeom prst="roundRect">
            <a:avLst>
              <a:gd name="adj" fmla="val 7352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8977312" y="3595687"/>
            <a:ext cx="2681287" cy="1295400"/>
          </a:xfrm>
          <a:prstGeom prst="roundRect">
            <a:avLst>
              <a:gd name="adj" fmla="val 7352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95325" y="3052762"/>
            <a:ext cx="2357437" cy="285750"/>
          </a:xfrm>
          <a:prstGeom prst="roundRect">
            <a:avLst>
              <a:gd name="adj" fmla="val 20000"/>
            </a:avLst>
          </a:prstGeom>
          <a:solidFill>
            <a:srgbClr val="EEF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3509962" y="3052762"/>
            <a:ext cx="2357437" cy="285750"/>
          </a:xfrm>
          <a:prstGeom prst="roundRect">
            <a:avLst>
              <a:gd name="adj" fmla="val 20000"/>
            </a:avLst>
          </a:prstGeom>
          <a:solidFill>
            <a:srgbClr val="EEF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324600" y="3052762"/>
            <a:ext cx="2357437" cy="285750"/>
          </a:xfrm>
          <a:prstGeom prst="roundRect">
            <a:avLst>
              <a:gd name="adj" fmla="val 20000"/>
            </a:avLst>
          </a:prstGeom>
          <a:solidFill>
            <a:srgbClr val="EEF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9139237" y="3052762"/>
            <a:ext cx="2357437" cy="285750"/>
          </a:xfrm>
          <a:prstGeom prst="roundRect">
            <a:avLst>
              <a:gd name="adj" fmla="val 20000"/>
            </a:avLst>
          </a:prstGeom>
          <a:solidFill>
            <a:srgbClr val="EEF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695325" y="4462462"/>
            <a:ext cx="2357437" cy="285750"/>
          </a:xfrm>
          <a:prstGeom prst="roundRect">
            <a:avLst>
              <a:gd name="adj" fmla="val 20000"/>
            </a:avLst>
          </a:prstGeom>
          <a:solidFill>
            <a:srgbClr val="CCFB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3509962" y="4462462"/>
            <a:ext cx="2357437" cy="285750"/>
          </a:xfrm>
          <a:prstGeom prst="roundRect">
            <a:avLst>
              <a:gd name="adj" fmla="val 20000"/>
            </a:avLst>
          </a:prstGeom>
          <a:solidFill>
            <a:srgbClr val="CCFB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324600" y="4462462"/>
            <a:ext cx="2357437" cy="285750"/>
          </a:xfrm>
          <a:prstGeom prst="roundRect">
            <a:avLst>
              <a:gd name="adj" fmla="val 20000"/>
            </a:avLst>
          </a:prstGeom>
          <a:solidFill>
            <a:srgbClr val="FFED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9139237" y="4462462"/>
            <a:ext cx="2357437" cy="285750"/>
          </a:xfrm>
          <a:prstGeom prst="roundRect">
            <a:avLst>
              <a:gd name="adj" fmla="val 20000"/>
            </a:avLst>
          </a:prstGeom>
          <a:solidFill>
            <a:srgbClr val="E0F2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17203" y="6172200"/>
            <a:ext cx="76200" cy="114300"/>
          </a:xfrm>
          <a:prstGeom prst="rect">
            <a:avLst/>
          </a:prstGeom>
        </p:spPr>
      </p:pic>
      <p:pic>
        <p:nvPicPr>
          <p:cNvPr id="21" name="Picture 20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03686" y="6172200"/>
            <a:ext cx="76200" cy="114300"/>
          </a:xfrm>
          <a:prstGeom prst="rect">
            <a:avLst/>
          </a:prstGeom>
        </p:spPr>
      </p:pic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52069" y="6172200"/>
            <a:ext cx="76200" cy="114300"/>
          </a:xfrm>
          <a:prstGeom prst="rect">
            <a:avLst/>
          </a:prstGeom>
        </p:spPr>
      </p:pic>
      <p:pic>
        <p:nvPicPr>
          <p:cNvPr id="23" name="Picture 2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52827" y="6172200"/>
            <a:ext cx="76200" cy="114300"/>
          </a:xfrm>
          <a:prstGeom prst="rect">
            <a:avLst/>
          </a:prstGeom>
        </p:spPr>
      </p:pic>
      <p:pic>
        <p:nvPicPr>
          <p:cNvPr id="24" name="Picture 2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01210" y="6172200"/>
            <a:ext cx="76200" cy="114300"/>
          </a:xfrm>
          <a:prstGeom prst="rect">
            <a:avLst/>
          </a:prstGeom>
        </p:spPr>
      </p:pic>
      <p:pic>
        <p:nvPicPr>
          <p:cNvPr id="25" name="Picture 2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68667" y="6172200"/>
            <a:ext cx="76200" cy="114300"/>
          </a:xfrm>
          <a:prstGeom prst="rect">
            <a:avLst/>
          </a:prstGeom>
        </p:spPr>
      </p:pic>
      <p:pic>
        <p:nvPicPr>
          <p:cNvPr id="26" name="Picture 2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55150" y="6172200"/>
            <a:ext cx="76200" cy="114300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8639175" y="781050"/>
            <a:ext cx="3552825" cy="1809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125" i="0" u="none">
                <a:solidFill>
                  <a:srgbClr val="64748B"/>
                </a:solidFill>
                <a:latin typeface="Plus Jakarta Sans"/>
              </a:rPr>
              <a:t>Continuous Accountability Across 8 Stages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14375" y="6143625"/>
            <a:ext cx="1152525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4F46E5"/>
                </a:solidFill>
                <a:latin typeface="Plus Jakarta Sans"/>
              </a:rPr>
              <a:t>01 DISCOVER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329457" y="6143625"/>
            <a:ext cx="923925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4F46E5"/>
                </a:solidFill>
                <a:latin typeface="Plus Jakarta Sans"/>
              </a:rPr>
              <a:t>02 IDEATE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715940" y="6143625"/>
            <a:ext cx="885825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4F46E5"/>
                </a:solidFill>
                <a:latin typeface="Plus Jakarta Sans"/>
              </a:rPr>
              <a:t>03 FORM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064323" y="6143625"/>
            <a:ext cx="83820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4F46E5"/>
                </a:solidFill>
                <a:latin typeface="Plus Jakarta Sans"/>
              </a:rPr>
              <a:t>04 PLAN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365081" y="6143625"/>
            <a:ext cx="885825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0D9488"/>
                </a:solidFill>
                <a:latin typeface="Plus Jakarta Sans"/>
              </a:rPr>
              <a:t>05 BUILD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713464" y="6143625"/>
            <a:ext cx="110490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0D9488"/>
                </a:solidFill>
                <a:latin typeface="Plus Jakarta Sans"/>
              </a:rPr>
              <a:t>06 VALIDATE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280921" y="6143625"/>
            <a:ext cx="923925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EA580C"/>
                </a:solidFill>
                <a:latin typeface="Plus Jakarta Sans"/>
              </a:rPr>
              <a:t>07 REFINE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762654" y="6143625"/>
            <a:ext cx="714375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0F172A"/>
                </a:solidFill>
                <a:latin typeface="Plus Jakarta Sans"/>
              </a:rPr>
              <a:t>08 DEMO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33400" y="381000"/>
            <a:ext cx="5072062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4F46E5"/>
                </a:solidFill>
                <a:latin typeface="Plus Jakarta Sans"/>
              </a:rPr>
              <a:t>MILESTONE CONTRACT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33400" y="590550"/>
            <a:ext cx="5325665" cy="3714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250" i="0" u="none">
                <a:solidFill>
                  <a:srgbClr val="0F172A"/>
                </a:solidFill>
                <a:latin typeface="Space Grotesk"/>
              </a:rPr>
              <a:t>Every Stage Has a Deliverable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95325" y="2328862"/>
            <a:ext cx="2946796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64748B"/>
                </a:solidFill>
                <a:latin typeface="Plus Jakarta Sans"/>
              </a:rPr>
              <a:t>STAGE 01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95325" y="2538412"/>
            <a:ext cx="3094136" cy="2095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75" i="0" u="none">
                <a:solidFill>
                  <a:srgbClr val="0F172A"/>
                </a:solidFill>
                <a:latin typeface="Plus Jakarta Sans"/>
              </a:rPr>
              <a:t>Discover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95325" y="2805112"/>
            <a:ext cx="2946796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475569"/>
                </a:solidFill>
                <a:latin typeface="Plus Jakarta Sans"/>
              </a:rPr>
              <a:t>Analyze problem space.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509962" y="2328862"/>
            <a:ext cx="2946796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64748B"/>
                </a:solidFill>
                <a:latin typeface="Plus Jakarta Sans"/>
              </a:rPr>
              <a:t>STAGE 02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509962" y="2538412"/>
            <a:ext cx="3094136" cy="2095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75" i="0" u="none">
                <a:solidFill>
                  <a:srgbClr val="0F172A"/>
                </a:solidFill>
                <a:latin typeface="Plus Jakarta Sans"/>
              </a:rPr>
              <a:t>Ideate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509962" y="2805112"/>
            <a:ext cx="2946796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475569"/>
                </a:solidFill>
                <a:latin typeface="Plus Jakarta Sans"/>
              </a:rPr>
              <a:t>Develop solution concept.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324600" y="2328862"/>
            <a:ext cx="2946796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64748B"/>
                </a:solidFill>
                <a:latin typeface="Plus Jakarta Sans"/>
              </a:rPr>
              <a:t>STAGE 03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324600" y="2538412"/>
            <a:ext cx="3094136" cy="2095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75" i="0" u="none">
                <a:solidFill>
                  <a:srgbClr val="0F172A"/>
                </a:solidFill>
                <a:latin typeface="Plus Jakarta Sans"/>
              </a:rPr>
              <a:t>Form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324600" y="2805112"/>
            <a:ext cx="2946796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475569"/>
                </a:solidFill>
                <a:latin typeface="Plus Jakarta Sans"/>
              </a:rPr>
              <a:t>Establish team charter.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139237" y="2328862"/>
            <a:ext cx="2946796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64748B"/>
                </a:solidFill>
                <a:latin typeface="Plus Jakarta Sans"/>
              </a:rPr>
              <a:t>STAGE 04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139237" y="2538412"/>
            <a:ext cx="3052762" cy="2095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75" i="0" u="none">
                <a:solidFill>
                  <a:srgbClr val="0F172A"/>
                </a:solidFill>
                <a:latin typeface="Plus Jakarta Sans"/>
              </a:rPr>
              <a:t>Plan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9139237" y="2805112"/>
            <a:ext cx="2946796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475569"/>
                </a:solidFill>
                <a:latin typeface="Plus Jakarta Sans"/>
              </a:rPr>
              <a:t>Define product &amp; stack.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95325" y="3738562"/>
            <a:ext cx="2946796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64748B"/>
                </a:solidFill>
                <a:latin typeface="Plus Jakarta Sans"/>
              </a:rPr>
              <a:t>STAGE 05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95325" y="3948112"/>
            <a:ext cx="3094136" cy="2095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75" i="0" u="none">
                <a:solidFill>
                  <a:srgbClr val="0F172A"/>
                </a:solidFill>
                <a:latin typeface="Plus Jakarta Sans"/>
              </a:rPr>
              <a:t>Build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95325" y="4214812"/>
            <a:ext cx="2946796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475569"/>
                </a:solidFill>
                <a:latin typeface="Plus Jakarta Sans"/>
              </a:rPr>
              <a:t>Develop functional MVP.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3509962" y="3738562"/>
            <a:ext cx="2946796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64748B"/>
                </a:solidFill>
                <a:latin typeface="Plus Jakarta Sans"/>
              </a:rPr>
              <a:t>STAGE 06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3509962" y="3948112"/>
            <a:ext cx="3094136" cy="2095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75" i="0" u="none">
                <a:solidFill>
                  <a:srgbClr val="0F172A"/>
                </a:solidFill>
                <a:latin typeface="Plus Jakarta Sans"/>
              </a:rPr>
              <a:t>Validate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3509962" y="4214812"/>
            <a:ext cx="2946796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475569"/>
                </a:solidFill>
                <a:latin typeface="Plus Jakarta Sans"/>
              </a:rPr>
              <a:t>Test with real users.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324600" y="3738562"/>
            <a:ext cx="2946796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64748B"/>
                </a:solidFill>
                <a:latin typeface="Plus Jakarta Sans"/>
              </a:rPr>
              <a:t>STAGE 07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6324600" y="3948112"/>
            <a:ext cx="3094136" cy="2095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75" i="0" u="none">
                <a:solidFill>
                  <a:srgbClr val="0F172A"/>
                </a:solidFill>
                <a:latin typeface="Plus Jakarta Sans"/>
              </a:rPr>
              <a:t>Refine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6324600" y="4214812"/>
            <a:ext cx="2946796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475569"/>
                </a:solidFill>
                <a:latin typeface="Plus Jakarta Sans"/>
              </a:rPr>
              <a:t>Polish user experience.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9139237" y="3738562"/>
            <a:ext cx="2946796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64748B"/>
                </a:solidFill>
                <a:latin typeface="Plus Jakarta Sans"/>
              </a:rPr>
              <a:t>STAGE 08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9139237" y="3948112"/>
            <a:ext cx="3052762" cy="2095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75" i="0" u="none">
                <a:solidFill>
                  <a:srgbClr val="0F172A"/>
                </a:solidFill>
                <a:latin typeface="Plus Jakarta Sans"/>
              </a:rPr>
              <a:t>Demo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9139237" y="4214812"/>
            <a:ext cx="2946796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475569"/>
                </a:solidFill>
                <a:latin typeface="Plus Jakarta Sans"/>
              </a:rPr>
              <a:t>Pitch and defend product.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790575" y="3109912"/>
            <a:ext cx="2708671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4338CA"/>
                </a:solidFill>
                <a:latin typeface="Plus Jakarta Sans"/>
              </a:rPr>
              <a:t>Problem Brief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3605212" y="3109912"/>
            <a:ext cx="2708671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4338CA"/>
                </a:solidFill>
                <a:latin typeface="Plus Jakarta Sans"/>
              </a:rPr>
              <a:t>Idea Pitch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6419850" y="3109912"/>
            <a:ext cx="2708671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4338CA"/>
                </a:solidFill>
                <a:latin typeface="Plus Jakarta Sans"/>
              </a:rPr>
              <a:t>Team Charter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9234487" y="3109912"/>
            <a:ext cx="2708671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4338CA"/>
                </a:solidFill>
                <a:latin typeface="Plus Jakarta Sans"/>
              </a:rPr>
              <a:t>Product Blueprint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790575" y="4519612"/>
            <a:ext cx="2708671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0F766E"/>
                </a:solidFill>
                <a:latin typeface="Plus Jakarta Sans"/>
              </a:rPr>
              <a:t>Working MVP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3605212" y="4519612"/>
            <a:ext cx="2708671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0F766E"/>
                </a:solidFill>
                <a:latin typeface="Plus Jakarta Sans"/>
              </a:rPr>
              <a:t>Validation Evidence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6419850" y="4519612"/>
            <a:ext cx="2708671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C2410C"/>
                </a:solidFill>
                <a:latin typeface="Plus Jakarta Sans"/>
              </a:rPr>
              <a:t>Final Product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9234487" y="4519612"/>
            <a:ext cx="2708671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0369A1"/>
                </a:solidFill>
                <a:latin typeface="Plus Jakarta Sans"/>
              </a:rPr>
              <a:t>Final Pitch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